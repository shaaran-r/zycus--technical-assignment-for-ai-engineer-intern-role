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38dcb56254e83" /><Relationship Type="http://schemas.openxmlformats.org/officeDocument/2006/relationships/extended-properties" Target="/docProps/app.xml" Id="R4f4e7ab4f6d54f5e" /><Relationship Type="http://schemas.openxmlformats.org/officeDocument/2006/relationships/officeDocument" Target="/ppt/presentation.xml" Id="Rf08105db7db24c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862fc14d2149c1"/>
  </p:sldMasterIdLst>
  <p:notesMasterIdLst>
    <p:notesMasterId xmlns:r="http://schemas.openxmlformats.org/officeDocument/2006/relationships" r:id="Rca7bccca285b492a"/>
  </p:notesMasterIdLst>
  <p:sldIdLst>
    <p:sldId xmlns:r="http://schemas.openxmlformats.org/officeDocument/2006/relationships" id="256" r:id="R19380f72cdd540f7"/>
    <p:sldId xmlns:r="http://schemas.openxmlformats.org/officeDocument/2006/relationships" id="257" r:id="Recf62591bb054558"/>
    <p:sldId xmlns:r="http://schemas.openxmlformats.org/officeDocument/2006/relationships" id="258" r:id="Rf364b95ec2654156"/>
    <p:sldId xmlns:r="http://schemas.openxmlformats.org/officeDocument/2006/relationships" id="259" r:id="Rb6b25833d6914f37"/>
    <p:sldId xmlns:r="http://schemas.openxmlformats.org/officeDocument/2006/relationships" id="260" r:id="R079834fdae914c8b"/>
    <p:sldId xmlns:r="http://schemas.openxmlformats.org/officeDocument/2006/relationships" id="261" r:id="Rff9dc2455c6646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a3ef1854eb4a74" /><Relationship Type="http://schemas.openxmlformats.org/officeDocument/2006/relationships/slideMaster" Target="/ppt/slideMasters/slideMaster1.xml" Id="R31862fc14d2149c1" /><Relationship Type="http://schemas.openxmlformats.org/officeDocument/2006/relationships/notesMaster" Target="/ppt/notesMasters/notesMaster1.xml" Id="Rca7bccca285b492a" /><Relationship Type="http://schemas.openxmlformats.org/officeDocument/2006/relationships/presProps" Target="/ppt/presProps.xml" Id="R919502721ae0446f" /><Relationship Type="http://schemas.openxmlformats.org/officeDocument/2006/relationships/tableStyles" Target="/ppt/tableStyles.xml" Id="R1fe4d3d5235048fb" /><Relationship Type="http://schemas.openxmlformats.org/officeDocument/2006/relationships/slide" Target="/ppt/slides/slide1.xml" Id="R19380f72cdd540f7" /><Relationship Type="http://schemas.openxmlformats.org/officeDocument/2006/relationships/slide" Target="/ppt/slides/slide2.xml" Id="Recf62591bb054558" /><Relationship Type="http://schemas.openxmlformats.org/officeDocument/2006/relationships/slide" Target="/ppt/slides/slide3.xml" Id="Rf364b95ec2654156" /><Relationship Type="http://schemas.openxmlformats.org/officeDocument/2006/relationships/slide" Target="/ppt/slides/slide4.xml" Id="Rb6b25833d6914f37" /><Relationship Type="http://schemas.openxmlformats.org/officeDocument/2006/relationships/slide" Target="/ppt/slides/slide5.xml" Id="R079834fdae914c8b" /><Relationship Type="http://schemas.openxmlformats.org/officeDocument/2006/relationships/slide" Target="/ppt/slides/slide6.xml" Id="Rff9dc2455c6646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8bd26863074c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48efa15df04497" /><Relationship Type="http://schemas.openxmlformats.org/officeDocument/2006/relationships/notesMaster" Target="/ppt/notesMasters/notesMaster1.xml" Id="R7e9ed229db0841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68fe392fc14c20" /><Relationship Type="http://schemas.openxmlformats.org/officeDocument/2006/relationships/notesMaster" Target="/ppt/notesMasters/notesMaster1.xml" Id="R046c8ae223f3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2a753584954eea" /><Relationship Type="http://schemas.openxmlformats.org/officeDocument/2006/relationships/notesMaster" Target="/ppt/notesMasters/notesMaster1.xml" Id="R050be6307c344e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04de92dd764c20" /><Relationship Type="http://schemas.openxmlformats.org/officeDocument/2006/relationships/notesMaster" Target="/ppt/notesMasters/notesMaster1.xml" Id="Rbe08dd4600f74e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e369b4da5d4e0a" /><Relationship Type="http://schemas.openxmlformats.org/officeDocument/2006/relationships/notesMaster" Target="/ppt/notesMasters/notesMaster1.xml" Id="R86939d7a7c014c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ab597b041041f3" /><Relationship Type="http://schemas.openxmlformats.org/officeDocument/2006/relationships/notesMaster" Target="/ppt/notesMasters/notesMaster1.xml" Id="R953f826c707d46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9a7c2e21643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99db372ea8437d" /><Relationship Type="http://schemas.openxmlformats.org/officeDocument/2006/relationships/slideLayout" Target="/ppt/slideLayouts/slideLayout1.xml" Id="R055de598e5374a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de598e5374a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639d02e8842d8" /><Relationship Type="http://schemas.openxmlformats.org/officeDocument/2006/relationships/notesSlide" Target="/ppt/notesSlides/notesSlide1.xml" Id="R52e80cbd99fa48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ed58a9034ce1" /><Relationship Type="http://schemas.openxmlformats.org/officeDocument/2006/relationships/chart" Target="/ppt/slides/charts/chart1.xml" Id="R5d36698485b546c8" /><Relationship Type="http://schemas.openxmlformats.org/officeDocument/2006/relationships/notesSlide" Target="/ppt/notesSlides/notesSlide2.xml" Id="Rb29a02f933b34b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e8dafbb4c44cf" /><Relationship Type="http://schemas.openxmlformats.org/officeDocument/2006/relationships/notesSlide" Target="/ppt/notesSlides/notesSlide3.xml" Id="Rd39fd56a1f4f46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a7ad0308046b0" /><Relationship Type="http://schemas.openxmlformats.org/officeDocument/2006/relationships/notesSlide" Target="/ppt/notesSlides/notesSlide4.xml" Id="R1dcd8bddf9714d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dd8835efd42a6" /><Relationship Type="http://schemas.openxmlformats.org/officeDocument/2006/relationships/notesSlide" Target="/ppt/notesSlides/notesSlide5.xml" Id="R7d299799992b43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d7203ca994d9b" /><Relationship Type="http://schemas.openxmlformats.org/officeDocument/2006/relationships/notesSlide" Target="/ppt/notesSlides/notesSlide6.xml" Id="R43b5122546e4452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Near-term schedule load</a:t>
            </a:r>
          </a:p>
        </c:rich>
      </c:tx>
      <c:overlay val="0"/>
    </c:title>
    <c:autoTitleDeleted val="0"/>
    <c:plotArea>
      <c:barChart>
        <c:barDir val="col"/>
        <c:varyColors val="0"/>
        <c:ser>
          <c:idx val="0"/>
          <c:order val="0"/>
          <c:tx>
            <c:v>Overdue active</c:v>
          </c:tx>
          <c:spPr>
            <a:solidFill xmlns:a="http://schemas.openxmlformats.org/drawingml/2006/main">
              <a:srgbClr val="C92828"/>
            </a:solidFill>
          </c:spPr>
          <c:dLbls/>
          <c:cat>
            <c:strLit>
              <c:ptCount val="2"/>
              <c:pt idx="0">
                <c:v>Titan S2P</c:v>
              </c:pt>
              <c:pt idx="1">
                <c:v>UniSan S2P</c:v>
              </c:pt>
            </c:strLit>
          </c:cat>
          <c:val>
            <c:numLit>
              <c:formatCode>General</c:formatCode>
              <c:ptCount val="2"/>
              <c:pt idx="0">
                <c:v>22</c:v>
              </c:pt>
              <c:pt idx="1">
                <c:v>44</c:v>
              </c:pt>
            </c:numLit>
          </c:val>
        </c:ser>
        <c:ser>
          <c:idx val="1"/>
          <c:order val="1"/>
          <c:tx>
            <c:v>Due in 14 days</c:v>
          </c:tx>
          <c:spPr>
            <a:solidFill xmlns:a="http://schemas.openxmlformats.org/drawingml/2006/main">
              <a:srgbClr val="D28700"/>
            </a:solidFill>
          </c:spPr>
          <c:dLbls/>
          <c:cat>
            <c:strLit>
              <c:ptCount val="2"/>
              <c:pt idx="0">
                <c:v>Titan S2P</c:v>
              </c:pt>
              <c:pt idx="1">
                <c:v>UniSan S2P</c:v>
              </c:pt>
            </c:strLit>
          </c:cat>
          <c:val>
            <c:numLit>
              <c:formatCode>General</c:formatCode>
              <c:ptCount val="2"/>
              <c:pt idx="0">
                <c:v>50</c:v>
              </c:pt>
              <c:pt idx="1">
                <c:v>70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4072D-E59F-4D00-BAC4-3629D6D5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00000"/>
                </a:solidFill>
              </a:defRPr>
            </a:pPr>
            <a:r>
              <a:rPr sz="3750" b="0">
                <a:solidFill>
                  <a:srgbClr val="000000"/>
                </a:solidFill>
              </a:rPr>
              <a:t>Monthly project health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4F326-807E-4706-B5E4-A9144F9E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85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000000"/>
                </a:solidFill>
              </a:defRPr>
            </a:pPr>
            <a:r>
              <a:rPr sz="2625" b="0">
                <a:solidFill>
                  <a:srgbClr val="000000"/>
                </a:solidFill>
              </a:rPr>
              <a:t>Both sample implementations need intervention before more near-term dates turn late.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DB20F-FBB9-4297-B5B9-97D904F2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8A0C1-013A-49B9-AD07-B5BD7B2F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</a:defRPr>
            </a:pPr>
            <a:r>
              <a:rPr sz="42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9CDB4-C5F9-47A1-9762-7EB2D592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projects assessed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65CF3-C32A-4119-8FA0-B2DE6D67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C92828"/>
                </a:solidFill>
              </a:defRPr>
            </a:pPr>
            <a:r>
              <a:rPr sz="4200" b="0">
                <a:solidFill>
                  <a:srgbClr val="C92828"/>
                </a:solidFill>
              </a:rPr>
              <a:t>2/2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24FFB-146F-4009-BC19-303BE2B4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rated 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10066-3F43-4AB6-AC36-F4834884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C92828"/>
                </a:solidFill>
              </a:defRPr>
            </a:pPr>
            <a:r>
              <a:rPr sz="4200" b="0">
                <a:solidFill>
                  <a:srgbClr val="C92828"/>
                </a:solidFill>
              </a:rPr>
              <a:t>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60283-2B9E-442C-936B-4B8A2277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active overdue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32E44-6A40-46C9-A052-62357F69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10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D28700"/>
                </a:solidFill>
              </a:defRPr>
            </a:pPr>
            <a:r>
              <a:rPr sz="4200" b="0">
                <a:solidFill>
                  <a:srgbClr val="D28700"/>
                </a:solidFill>
              </a:rPr>
              <a:t>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C7EC1-27A4-4917-B5A7-761357D9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529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active tasks due in 14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B3D81-F57D-4B73-9B9D-CC763EDD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Assessment date: 2026-07-09. Inputs: two Excel project plans and comment sheets.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9F0AA-E445-4F58-B254-2846F2D0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8805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EE46FE-F8E7-4C08-91BD-4BD28393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4B512-D324-4025-99BA-856A8948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portfolio risk pattern is schedule-led, not isolated to one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EEEE8-6D1D-425F-B1A6-2D4C8266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91BE5-3AB8-4476-B244-8BA6F90D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Across both plans, the strongest signal is schedule pressure: active overdue work, active Red tasks, and a large amount of work due within the next two weeks.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4C48B-CBB4-4A27-924C-3E23D7A1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Budget burn cannot be evaluated from the supplied files, so the agent discloses it as missing rather than inventing a score.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096000" y="2076450"/>
          <a:ext xmlns:a="http://schemas.openxmlformats.org/drawingml/2006/main" cx="5334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36698485b546c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F80E8-31A2-4764-BA9C-894E373D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1986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84398-CFEE-4575-8360-91A51C7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C0B44-207C-477F-8221-9E2B3A45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Titan needs dependency closure; UniSan needs schedule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B26F6-7B34-45BE-91D5-42BAC968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A9689-F96B-4ADC-93ED-B0139758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2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C7384-9F79-43F1-AE2D-638D8EB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Titan S2P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7876E-6EC4-47EF-AC6F-463BA3E7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C92828"/>
                </a:solidFill>
              </a:defRPr>
            </a:pPr>
            <a:r>
              <a:rPr sz="4050" b="0">
                <a:solidFill>
                  <a:srgbClr val="C92828"/>
                </a:solidFill>
              </a:rPr>
              <a:t>22 overdue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84CDE-B9D5-42A0-B865-0F990D47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Progress is ahead of elapsed time, but on-hold D&amp;B work, JDE mapping, and workshop impacts keep the project 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678F5-B28F-4051-B319-948A78C2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622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28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7ADB8-F144-4FE7-AB58-683A6BF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43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UniSan S2P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4AE7E-6BCB-46C5-99B6-29799712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C92828"/>
                </a:solidFill>
              </a:defRPr>
            </a:pPr>
            <a:r>
              <a:rPr sz="4050" b="0">
                <a:solidFill>
                  <a:srgbClr val="C92828"/>
                </a:solidFill>
              </a:rPr>
              <a:t>44 overdue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17236-FCF3-41D4-90ED-ACF56438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62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project is 17.7 percentage points behind elapsed time and has heavier Red schedule concentration.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C4B45-CD9F-4255-8547-BF78D3F7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287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CC4F7-0062-462B-BF30-CB026ACB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Common issue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EA520-AA8A-4A73-BA0E-B2EA891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D28700"/>
                </a:solidFill>
              </a:defRPr>
            </a:pPr>
            <a:r>
              <a:rPr sz="4050" b="0">
                <a:solidFill>
                  <a:srgbClr val="D28700"/>
                </a:solidFill>
              </a:rPr>
              <a:t>120 due soon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F3187-898F-4656-AEE1-227B2BCD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62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 large two-week task load means the portfolio can create more misses unless closure cadence tightens now.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3EBCF-1F5E-47B8-B36D-E330716E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0867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34345-E56F-4C82-BAED-13759719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763A6-CB62-4BD7-B1B7-36057873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biggest risks are operational, not measurement artifacts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1A732-F4D1-479B-B2B2-3F0CF4A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38D9D-B853-468D-8FC7-E612EF4F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57C6A-1D15-4B79-9609-4241F828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6622E-AA99-4052-A775-81E8E1C8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BA51E-A18F-4D65-B669-00CC2FC1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Executive 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A365E-3E38-48B3-AD1D-321F5F0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A0741-6A9C-49D1-BA27-DBD38D62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Schedule pressure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59A03-E4F2-46A1-80F0-2090D98D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66 active overdue tasks and 67 active Red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AC748-BC7B-41E0-A430-A01C87B8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Recovery needs active owner-level management, not passive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8FA7B-BF8B-4C6D-9969-E0F7423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37E40-5DC6-4C6D-913F-A7D54C5D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Near-term 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CDDD2-3091-4CF9-8C7D-01A61EA0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120 active tasks due by 2026-07-23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FB7FF-269B-46B8-9103-608EB66F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671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More slippage is likely without a two-week closure plan.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7043C-C338-4CEF-B19D-7E83A8D2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BD70E-69D9-4D06-8A0F-348107B9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Dependency blockers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16940-0065-4E35-B093-5C7B331C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00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Titan comments cite impacted workshops, JDE mapping, meetings, and PH cleanup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C3B80-FE64-4FC2-87CD-4E5D4901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Client and internal dependencies need steering-level escalation.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B98F2-D9DF-4641-A4C5-525A4328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1391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F2C73-A977-4185-9D56-CDD6F331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Data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435A0-FBEC-4E2B-97B0-324AF8C6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530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 budget fields in either workbook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00AFE-C0DF-42BF-9328-0E6E273A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53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Leadership cannot yet connect delivery health to margin impact.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AEAF2-CF91-4475-ABA8-6B775EB3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14414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897EB5-53EC-4325-8660-58DC646A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742CE-FCFE-4035-8AF3-4B9EF84C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Recommended action is a two-week control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5E254-9616-4FBD-8FAD-3C39703A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9C398-CE47-483C-8145-0E87E7AB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C92828"/>
                </a:solidFill>
              </a:defRPr>
            </a:pPr>
            <a:r>
              <a:rPr sz="2625" b="1">
                <a:solidFill>
                  <a:srgbClr val="C92828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D9932-159D-4EEB-8DCE-E09A3375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9FB18-9432-41D7-9ECB-0E6270DB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621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Create a daily closure list for overdue Red tasks and overdue active milestones.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983C2-40F4-49BD-A181-F70FD57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A2EA7-DF92-48AF-9139-5B1B5A1C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C92828"/>
                </a:solidFill>
              </a:defRPr>
            </a:pPr>
            <a:r>
              <a:rPr sz="2625" b="1">
                <a:solidFill>
                  <a:srgbClr val="C9282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380AC-9385-44EB-B5D9-72C14529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Escalate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EA598-8CB1-4746-B268-EDA126CF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Move client dependencies and on-hold items into the weekly steering forum with named decision owners.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E761D-3AB4-44D4-A3DE-8BD0EED7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109AE-76BA-4893-A24C-0906216F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C92828"/>
                </a:solidFill>
              </a:defRPr>
            </a:pPr>
            <a:r>
              <a:rPr sz="2625" b="1">
                <a:solidFill>
                  <a:srgbClr val="C92828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32276-DA4C-4318-A3DE-E42AC976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Prevent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9D09E-66CD-4D5B-BCE7-0926BCC7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Pre-review all tasks due in the next 14 days before they become overdue.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794C5-5A55-4E57-9055-2B9726E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60DE3-AA7B-4021-9CF7-2C5BCA2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C92828"/>
                </a:solidFill>
              </a:defRPr>
            </a:pPr>
            <a:r>
              <a:rPr sz="2625" b="1">
                <a:solidFill>
                  <a:srgbClr val="C92828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998B6-18AE-49B9-9FC2-7B312E82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Instrument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F9E87-6042-4AFC-A392-B1C130E9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4822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Add budget planned, actual, forecast, and sentiment fields to strengthen future health scoring.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699CB-FC8D-404C-A3CB-0E2220D1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CB274-0923-4225-B3D0-69A37799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2473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CCBCF-4190-455B-BE4B-2B77916D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PROJECT HEALTH REPORTING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D1469-EBC0-4757-AB92-D8F6FBC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agent should become the weekly health operating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D131F-DB59-4E79-82AD-DC3F9BEE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A258C-A9D8-4018-9A86-D56F0A2D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Monday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14892-A0CD-4D52-AE5F-369A1F4B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Read latest project plans and comments.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ECC62-3EB4-434D-AC29-4E7D731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Tuesday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85CEC-EC17-493C-BF3B-D3DB4C0D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Publish Red/Amber deltas and overdue owner list.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819C9-A3CF-467D-BD16-AF626473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Wednesday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5E0DE-EBAE-4233-952B-C696C3A8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Use steering forum for dependency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8181C-35FA-4DE6-ADE0-78FF6694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86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Friday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BD4ED-4B97-4F11-BFB8-BCA1A349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Update client-ready summary and refresh monthly trend deck.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A58AC-0459-452D-9DFA-A1ED1997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1391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0556C-827D-4A2B-8864-7CC2D0A6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Decision needed: confirm a two-week recovery owner for each Red project and add budget data to the standard plan export.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0AE99-BD28-447B-94EC-B66CDA7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5066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2026-07-09T05:15:55.0980000Z</dcterms:created>
  <dcterms:modified xsi:type="dcterms:W3CDTF">2026-07-09T05:15:55.0980000Z</dcterms:modified>
</coreProperties>
</file>